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5.xml.rels" ContentType="application/vnd.openxmlformats-package.relationships+xml"/>
  <Override PartName="/ppt/slideMasters/_rels/slideMaster1.xml.rels" ContentType="application/vnd.openxmlformats-package.relationships+xml"/>
  <Override PartName="/ppt/slideMasters/slideMaster5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media/image1.jpeg" ContentType="image/jpe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3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5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;p2"/>
          <p:cNvSpPr/>
          <p:nvPr/>
        </p:nvSpPr>
        <p:spPr>
          <a:xfrm>
            <a:off x="7346160" y="130320"/>
            <a:ext cx="4888800" cy="48888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" name="Google Shape;10;p2"/>
          <p:cNvGrpSpPr/>
          <p:nvPr/>
        </p:nvGrpSpPr>
        <p:grpSpPr>
          <a:xfrm>
            <a:off x="727200" y="-48960"/>
            <a:ext cx="7703280" cy="5242680"/>
            <a:chOff x="727200" y="-48960"/>
            <a:chExt cx="7703280" cy="5242680"/>
          </a:xfrm>
        </p:grpSpPr>
        <p:sp>
          <p:nvSpPr>
            <p:cNvPr id="4" name="Google Shape;11;p2"/>
            <p:cNvSpPr/>
            <p:nvPr/>
          </p:nvSpPr>
          <p:spPr>
            <a:xfrm>
              <a:off x="727560" y="533520"/>
              <a:ext cx="77029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5" name="Google Shape;12;p2"/>
            <p:cNvCxnSpPr/>
            <p:nvPr/>
          </p:nvCxnSpPr>
          <p:spPr>
            <a:xfrm flipV="1">
              <a:off x="727200" y="-48960"/>
              <a:ext cx="360" cy="585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6" name="Google Shape;13;p2"/>
            <p:cNvCxnSpPr/>
            <p:nvPr/>
          </p:nvCxnSpPr>
          <p:spPr>
            <a:xfrm flipV="1">
              <a:off x="8430480" y="4608360"/>
              <a:ext cx="360" cy="58572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087200" y="1670040"/>
            <a:ext cx="5897160" cy="139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22;p15"/>
          <p:cNvSpPr/>
          <p:nvPr/>
        </p:nvSpPr>
        <p:spPr>
          <a:xfrm>
            <a:off x="355284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0" name="Google Shape;123;p15"/>
          <p:cNvGrpSpPr/>
          <p:nvPr/>
        </p:nvGrpSpPr>
        <p:grpSpPr>
          <a:xfrm>
            <a:off x="-50400" y="232560"/>
            <a:ext cx="8961120" cy="4684680"/>
            <a:chOff x="-50400" y="232560"/>
            <a:chExt cx="8961120" cy="4684680"/>
          </a:xfrm>
        </p:grpSpPr>
        <p:sp>
          <p:nvSpPr>
            <p:cNvPr id="11" name="Google Shape;124;p15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2" name="Google Shape;125;p15"/>
            <p:cNvCxnSpPr/>
            <p:nvPr/>
          </p:nvCxnSpPr>
          <p:spPr>
            <a:xfrm flipH="1">
              <a:off x="-50400" y="232560"/>
              <a:ext cx="3092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20000" y="1203840"/>
            <a:ext cx="3197880" cy="150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493880" y="0"/>
            <a:ext cx="4649760" cy="5143320"/>
          </a:xfrm>
          <a:prstGeom prst="rect">
            <a:avLst/>
          </a:prstGeom>
          <a:noFill/>
          <a:ln w="19080">
            <a:solidFill>
              <a:schemeClr val="dk1"/>
            </a:solidFill>
            <a:round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258;p27"/>
          <p:cNvSpPr/>
          <p:nvPr/>
        </p:nvSpPr>
        <p:spPr>
          <a:xfrm>
            <a:off x="6677280" y="-9000"/>
            <a:ext cx="5161320" cy="516132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6" name="Google Shape;259;p27"/>
          <p:cNvGrpSpPr/>
          <p:nvPr/>
        </p:nvGrpSpPr>
        <p:grpSpPr>
          <a:xfrm>
            <a:off x="713160" y="-78840"/>
            <a:ext cx="8790840" cy="4687200"/>
            <a:chOff x="713160" y="-78840"/>
            <a:chExt cx="8790840" cy="4687200"/>
          </a:xfrm>
        </p:grpSpPr>
        <p:sp>
          <p:nvSpPr>
            <p:cNvPr id="17" name="Google Shape;260;p27"/>
            <p:cNvSpPr/>
            <p:nvPr/>
          </p:nvSpPr>
          <p:spPr>
            <a:xfrm>
              <a:off x="713160" y="533520"/>
              <a:ext cx="78631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8" name="Google Shape;261;p27"/>
            <p:cNvCxnSpPr/>
            <p:nvPr/>
          </p:nvCxnSpPr>
          <p:spPr>
            <a:xfrm flipV="1">
              <a:off x="713160" y="-78840"/>
              <a:ext cx="360" cy="6249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9" name="Google Shape;262;p27"/>
            <p:cNvCxnSpPr/>
            <p:nvPr/>
          </p:nvCxnSpPr>
          <p:spPr>
            <a:xfrm>
              <a:off x="8571600" y="4608360"/>
              <a:ext cx="93276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094400" y="77832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5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265;p27"/>
          <p:cNvSpPr/>
          <p:nvPr/>
        </p:nvSpPr>
        <p:spPr>
          <a:xfrm>
            <a:off x="1094400" y="3384000"/>
            <a:ext cx="5796720" cy="5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15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CREDITS: This presentation template was created by </a:t>
            </a:r>
            <a:r>
              <a:rPr b="1" lang="en" sz="1200" strike="noStrike" u="sng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  <a:hlinkClick r:id="rId2"/>
              </a:rPr>
              <a:t>Slidesgo</a:t>
            </a:r>
            <a:r>
              <a:rPr b="1" lang="en" sz="120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,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 and includes icons, infographics &amp; images by </a:t>
            </a:r>
            <a:r>
              <a:rPr b="1" lang="en" sz="1200" strike="noStrike" u="sng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  <a:hlinkClick r:id="rId3"/>
              </a:rPr>
              <a:t>Freepik</a:t>
            </a:r>
            <a:r>
              <a:rPr b="1" lang="en" sz="1200" strike="noStrike" u="sng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6;p4"/>
          <p:cNvSpPr/>
          <p:nvPr/>
        </p:nvSpPr>
        <p:spPr>
          <a:xfrm>
            <a:off x="8240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3" name="Google Shape;27;p4"/>
          <p:cNvGrpSpPr/>
          <p:nvPr/>
        </p:nvGrpSpPr>
        <p:grpSpPr>
          <a:xfrm>
            <a:off x="-18720" y="232560"/>
            <a:ext cx="8929800" cy="5027400"/>
            <a:chOff x="-18720" y="232560"/>
            <a:chExt cx="8929800" cy="5027400"/>
          </a:xfrm>
        </p:grpSpPr>
        <p:sp>
          <p:nvSpPr>
            <p:cNvPr id="24" name="Google Shape;28;p4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25" name="Google Shape;29;p4"/>
            <p:cNvCxnSpPr/>
            <p:nvPr/>
          </p:nvCxnSpPr>
          <p:spPr>
            <a:xfrm flipH="1">
              <a:off x="-18720" y="23256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26" name="Google Shape;30;p4"/>
            <p:cNvCxnSpPr/>
            <p:nvPr/>
          </p:nvCxnSpPr>
          <p:spPr>
            <a:xfrm>
              <a:off x="8911080" y="4917240"/>
              <a:ext cx="360" cy="34308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2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094400" y="77832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45;p6"/>
          <p:cNvSpPr/>
          <p:nvPr/>
        </p:nvSpPr>
        <p:spPr>
          <a:xfrm>
            <a:off x="8240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0" name="Google Shape;46;p6"/>
          <p:cNvGrpSpPr/>
          <p:nvPr/>
        </p:nvGrpSpPr>
        <p:grpSpPr>
          <a:xfrm>
            <a:off x="232200" y="-49320"/>
            <a:ext cx="8678880" cy="5250600"/>
            <a:chOff x="232200" y="-49320"/>
            <a:chExt cx="8678880" cy="5250600"/>
          </a:xfrm>
        </p:grpSpPr>
        <p:grpSp>
          <p:nvGrpSpPr>
            <p:cNvPr id="31" name="Google Shape;47;p6"/>
            <p:cNvGrpSpPr/>
            <p:nvPr/>
          </p:nvGrpSpPr>
          <p:grpSpPr>
            <a:xfrm>
              <a:off x="232200" y="-49320"/>
              <a:ext cx="8678880" cy="5250600"/>
              <a:chOff x="232200" y="-49320"/>
              <a:chExt cx="8678880" cy="5250600"/>
            </a:xfrm>
          </p:grpSpPr>
          <p:sp>
            <p:nvSpPr>
              <p:cNvPr id="32" name="Google Shape;48;p6"/>
              <p:cNvSpPr/>
              <p:nvPr/>
            </p:nvSpPr>
            <p:spPr>
              <a:xfrm>
                <a:off x="232200" y="232920"/>
                <a:ext cx="8678520" cy="4684320"/>
              </a:xfrm>
              <a:prstGeom prst="rect">
                <a:avLst/>
              </a:prstGeom>
              <a:noFill/>
              <a:ln w="19050">
                <a:solidFill>
                  <a:srgbClr val="333333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33" name="Google Shape;49;p6"/>
              <p:cNvCxnSpPr/>
              <p:nvPr/>
            </p:nvCxnSpPr>
            <p:spPr>
              <a:xfrm flipV="1">
                <a:off x="8911080" y="-49320"/>
                <a:ext cx="360" cy="284040"/>
              </a:xfrm>
              <a:prstGeom prst="straightConnector1">
                <a:avLst/>
              </a:prstGeom>
              <a:ln w="19050">
                <a:solidFill>
                  <a:srgbClr val="333333"/>
                </a:solidFill>
                <a:round/>
              </a:ln>
            </p:spPr>
          </p:cxnSp>
          <p:cxnSp>
            <p:nvCxnSpPr>
              <p:cNvPr id="34" name="Google Shape;50;p6"/>
              <p:cNvCxnSpPr/>
              <p:nvPr/>
            </p:nvCxnSpPr>
            <p:spPr>
              <a:xfrm flipV="1">
                <a:off x="232200" y="4917240"/>
                <a:ext cx="360" cy="284400"/>
              </a:xfrm>
              <a:prstGeom prst="straightConnector1">
                <a:avLst/>
              </a:prstGeom>
              <a:ln w="19050">
                <a:solidFill>
                  <a:srgbClr val="333333"/>
                </a:solidFill>
                <a:round/>
              </a:ln>
            </p:spPr>
          </p:cxnSp>
        </p:grpSp>
        <p:sp>
          <p:nvSpPr>
            <p:cNvPr id="35" name="Google Shape;51;p6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085760" y="1666800"/>
            <a:ext cx="5895720" cy="13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trike="noStrike" u="none">
                <a:solidFill>
                  <a:schemeClr val="dk1"/>
                </a:solidFill>
                <a:effectLst/>
                <a:uFillTx/>
                <a:latin typeface="Figtree Black"/>
                <a:ea typeface="Figtree Black"/>
              </a:rPr>
              <a:t>JFET &amp; MOSFET</a:t>
            </a:r>
            <a:endParaRPr b="0" lang="fr-FR" sz="3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ubTitle"/>
          </p:nvPr>
        </p:nvSpPr>
        <p:spPr>
          <a:xfrm>
            <a:off x="1085760" y="3000240"/>
            <a:ext cx="589572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Field Effect Transistors in Modern Electronics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396;p41" descr=""/>
          <p:cNvPicPr/>
          <p:nvPr/>
        </p:nvPicPr>
        <p:blipFill>
          <a:blip r:embed="rId1"/>
          <a:stretch/>
        </p:blipFill>
        <p:spPr>
          <a:xfrm>
            <a:off x="4493880" y="0"/>
            <a:ext cx="4649760" cy="5142960"/>
          </a:xfrm>
          <a:prstGeom prst="rect">
            <a:avLst/>
          </a:prstGeom>
          <a:noFill/>
          <a:ln w="19050">
            <a:solidFill>
              <a:srgbClr val="333333"/>
            </a:solidFill>
            <a:round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23960" y="1200240"/>
            <a:ext cx="3200040" cy="150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Figtree Black"/>
                <a:ea typeface="Figtree Black"/>
              </a:rPr>
              <a:t>Introduction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723960" y="2705040"/>
            <a:ext cx="3200040" cy="145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Definition: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 A Field Effect Transistor (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FET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) controls current via an electric field at the gate.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Importance: FETs enable high-input-impedance amplification and efficient switching across analog and digital systems.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Speaker notes: Provide a concise overview. Emphasize FET role in amplifiers, logic, and power management. Mention visuals to follow: symbol, internal cross-section, and I-V characteristic curves.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>
            <a:off x="857160" y="762120"/>
            <a:ext cx="190476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"/>
          <p:cNvSpPr/>
          <p:nvPr/>
        </p:nvSpPr>
        <p:spPr>
          <a:xfrm>
            <a:off x="857160" y="1428840"/>
            <a:ext cx="323820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Figtree Black"/>
              </a:rPr>
              <a:t>JFET Fundamentals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46" name="image6a0c2d4953766" descr="image6a0c2d495376b"/>
          <p:cNvPicPr/>
          <p:nvPr/>
        </p:nvPicPr>
        <p:blipFill>
          <a:blip r:embed="rId1"/>
          <a:stretch/>
        </p:blipFill>
        <p:spPr>
          <a:xfrm>
            <a:off x="5257800" y="514440"/>
            <a:ext cx="3200040" cy="411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5048280" y="762120"/>
            <a:ext cx="323820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Figtree Black"/>
              </a:rPr>
              <a:t>Structure &amp; Symbol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" name=""/>
          <p:cNvSpPr/>
          <p:nvPr/>
        </p:nvSpPr>
        <p:spPr>
          <a:xfrm>
            <a:off x="5048280" y="1905120"/>
            <a:ext cx="3238200" cy="24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Structure: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 Source, Drain, Gate, and semiconductor channel;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depletion region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 controls conduction.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Visuals: include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JFET symbol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, N/P-channel cross-section diagram, and internal structure schematic.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Speaker notes: Point out gate is reverse-biased PN junction (no oxide). Highlight how channel narrowing via depletion region reduces Id. Show labeled diagrams and symbol for clarity.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49" name="image6a0c2d49716df" descr="image6a0c2d49716e3"/>
          <p:cNvPicPr/>
          <p:nvPr/>
        </p:nvPicPr>
        <p:blipFill>
          <a:blip r:embed="rId1"/>
          <a:stretch/>
        </p:blipFill>
        <p:spPr>
          <a:xfrm>
            <a:off x="685800" y="514440"/>
            <a:ext cx="3200040" cy="411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>
            <a:off x="857160" y="762120"/>
            <a:ext cx="74293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Figtree Black"/>
              </a:rPr>
              <a:t>Operation &amp; Curves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1" name=""/>
          <p:cNvSpPr/>
          <p:nvPr/>
        </p:nvSpPr>
        <p:spPr>
          <a:xfrm>
            <a:off x="857160" y="1905120"/>
            <a:ext cx="7429320" cy="24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Operation: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 Gate voltage modulates depletion width; current is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voltage-controlled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Visuals: present transfer (Id vs Vgs) and output (Id vs Vds) curves; annotate pinch-off and cutoff regions.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Speaker notes: Explain region behavior—ohmic, pinch-off, saturation. Relate curve features to biasing for amplifier vs switch operation. Recommend overlaying operating points for typical applications.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Figtree Black"/>
                <a:ea typeface="Figtree Black"/>
              </a:rPr>
              <a:t>Applications &amp; Limits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723960" y="1219320"/>
            <a:ext cx="7705440" cy="322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14280">
              <a:lnSpc>
                <a:spcPct val="150000"/>
              </a:lnSpc>
              <a:buNone/>
              <a:tabLst>
                <a:tab algn="l" pos="0"/>
              </a:tabLst>
            </a:pP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Applications: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 JFETs used in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low-noise amplifiers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, analog front-ends, and bias-stable circuits.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428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4280">
              <a:lnSpc>
                <a:spcPct val="150000"/>
              </a:lnSpc>
              <a:buNone/>
              <a:tabLst>
                <a:tab algn="l" pos="0"/>
              </a:tabLst>
            </a:pP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Limits: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 Lower input impedance than MOSFETs, limited gate control, and restricted power handling compared to power transistors.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428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428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Speaker notes: Show JFET circuit examples and I‑V constraints. Include symbol and characteristic curves.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>
            <a:off x="5048280" y="762120"/>
            <a:ext cx="228564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"/>
          <p:cNvSpPr/>
          <p:nvPr/>
        </p:nvSpPr>
        <p:spPr>
          <a:xfrm>
            <a:off x="5048280" y="1428840"/>
            <a:ext cx="323820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Figtree Black"/>
              </a:rPr>
              <a:t>MOSFET Fundamentals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56" name="image6a0c2d498f140" descr="image6a0c2d498f144"/>
          <p:cNvPicPr/>
          <p:nvPr/>
        </p:nvPicPr>
        <p:blipFill>
          <a:blip r:embed="rId1"/>
          <a:stretch/>
        </p:blipFill>
        <p:spPr>
          <a:xfrm>
            <a:off x="685800" y="514440"/>
            <a:ext cx="3200040" cy="411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857160" y="762120"/>
            <a:ext cx="74293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Figtree Black"/>
              </a:rPr>
              <a:t>Structure &amp; Types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"/>
          <p:cNvSpPr/>
          <p:nvPr/>
        </p:nvSpPr>
        <p:spPr>
          <a:xfrm>
            <a:off x="857160" y="1905120"/>
            <a:ext cx="7429320" cy="24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Structure: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 Source, Drain, Gate with insulating oxide forming a capacitive gate control.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Types: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Enhancement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 and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depletion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 modes; N-channel and P-channel variants for complementary designs.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Speaker notes: Display cross-section with oxide layer and gate; compare N vs P channel polarity and symbols.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857160" y="762120"/>
            <a:ext cx="323820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Figtree Black"/>
              </a:rPr>
              <a:t>Applications &amp; Tradeoffs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" name=""/>
          <p:cNvSpPr/>
          <p:nvPr/>
        </p:nvSpPr>
        <p:spPr>
          <a:xfrm>
            <a:off x="857160" y="1905120"/>
            <a:ext cx="3238200" cy="24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Applications: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 Power converters, digital logic, RF amplifiers, and microprocessor power stages.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Tradeoffs: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High input impedance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 and fast switching vs gate oxide sensitivity and ESD risk.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Speaker notes: Provide examples: MOSFET in buck converter and CMOS logic. Discuss thermal and reliability considerations.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61" name="image6a0c2d49aca37" descr="image6a0c2d49aca3c"/>
          <p:cNvPicPr/>
          <p:nvPr/>
        </p:nvPicPr>
        <p:blipFill>
          <a:blip r:embed="rId1"/>
          <a:stretch/>
        </p:blipFill>
        <p:spPr>
          <a:xfrm>
            <a:off x="5257800" y="514440"/>
            <a:ext cx="3200040" cy="411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Figtree Black"/>
                <a:ea typeface="Figtree Black"/>
              </a:rPr>
              <a:t>Conclusions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723960" y="1219320"/>
            <a:ext cx="7705440" cy="322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14280">
              <a:lnSpc>
                <a:spcPct val="150000"/>
              </a:lnSpc>
              <a:buNone/>
              <a:tabLst>
                <a:tab algn="l" pos="0"/>
              </a:tabLst>
            </a:pP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Summary: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 JFETs offer simple, low-noise analog performance; MOSFETs deliver high input impedance, fast switching, and scalability for digital and power systems.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428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4280">
              <a:lnSpc>
                <a:spcPct val="150000"/>
              </a:lnSpc>
              <a:buNone/>
              <a:tabLst>
                <a:tab algn="l" pos="0"/>
              </a:tabLst>
            </a:pP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Design takeaway: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 Choose JFET for precision analog; choose MOSFET for power and digital integration.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428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428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Speaker notes: Reiterate key differences, show comparative table, and present recommended application map.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095480" y="781200"/>
            <a:ext cx="4447800" cy="195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5800" strike="noStrike" u="none">
                <a:solidFill>
                  <a:schemeClr val="dk1"/>
                </a:solidFill>
                <a:effectLst/>
                <a:uFillTx/>
                <a:latin typeface="Figtree Black"/>
                <a:ea typeface="Figtree Black"/>
              </a:rPr>
              <a:t>Thanks!</a:t>
            </a:r>
            <a:endParaRPr b="0" lang="fr-FR" sz="5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1095480" y="1647720"/>
            <a:ext cx="4447800" cy="122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Do you have any questions?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youremail@freepik.com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+34 654 321 432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yourwebsite.com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Google Shape;858;p60"/>
          <p:cNvSpPr/>
          <p:nvPr/>
        </p:nvSpPr>
        <p:spPr>
          <a:xfrm>
            <a:off x="1095480" y="4048200"/>
            <a:ext cx="41526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3737880" bIns="-3737880" anchor="t">
            <a:sp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7" name="Google Shape;859;p60"/>
          <p:cNvSpPr/>
          <p:nvPr/>
        </p:nvSpPr>
        <p:spPr>
          <a:xfrm>
            <a:off x="1178280" y="2949120"/>
            <a:ext cx="312840" cy="312840"/>
          </a:xfrm>
          <a:custGeom>
            <a:avLst/>
            <a:gdLst>
              <a:gd name="textAreaLeft" fmla="*/ 0 w 312840"/>
              <a:gd name="textAreaRight" fmla="*/ 313200 w 312840"/>
              <a:gd name="textAreaTop" fmla="*/ 0 h 312840"/>
              <a:gd name="textAreaBottom" fmla="*/ 313200 h 312840"/>
            </a:gdLst>
            <a:ahLst/>
            <a:cxnLst/>
            <a:rect l="textAreaLeft" t="textAreaTop" r="textAreaRight" b="textAreaBottom"/>
            <a:pathLst>
              <a:path w="19982" h="19982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68" name="Google Shape;860;p60"/>
          <p:cNvGrpSpPr/>
          <p:nvPr/>
        </p:nvGrpSpPr>
        <p:grpSpPr>
          <a:xfrm>
            <a:off x="1654920" y="2949120"/>
            <a:ext cx="312840" cy="312840"/>
            <a:chOff x="1654920" y="2949120"/>
            <a:chExt cx="312840" cy="312840"/>
          </a:xfrm>
        </p:grpSpPr>
        <p:sp>
          <p:nvSpPr>
            <p:cNvPr id="69" name="Google Shape;861;p60"/>
            <p:cNvSpPr/>
            <p:nvPr/>
          </p:nvSpPr>
          <p:spPr>
            <a:xfrm>
              <a:off x="1747440" y="3041280"/>
              <a:ext cx="128160" cy="128160"/>
            </a:xfrm>
            <a:custGeom>
              <a:avLst/>
              <a:gdLst>
                <a:gd name="textAreaLeft" fmla="*/ 0 w 128160"/>
                <a:gd name="textAreaRight" fmla="*/ 128520 w 128160"/>
                <a:gd name="textAreaTop" fmla="*/ 0 h 128160"/>
                <a:gd name="textAreaBottom" fmla="*/ 128520 h 128160"/>
              </a:gdLst>
              <a:ahLst/>
              <a:cxnLst/>
              <a:rect l="textAreaLeft" t="textAreaTop" r="textAreaRight" b="textAreaBottom"/>
              <a:pathLst>
                <a:path w="8197" h="8197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080" bIns="64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862;p60"/>
            <p:cNvSpPr/>
            <p:nvPr/>
          </p:nvSpPr>
          <p:spPr>
            <a:xfrm>
              <a:off x="1691640" y="2985840"/>
              <a:ext cx="239400" cy="239400"/>
            </a:xfrm>
            <a:custGeom>
              <a:avLst/>
              <a:gdLst>
                <a:gd name="textAreaLeft" fmla="*/ 0 w 239400"/>
                <a:gd name="textAreaRight" fmla="*/ 239760 w 239400"/>
                <a:gd name="textAreaTop" fmla="*/ 0 h 239400"/>
                <a:gd name="textAreaBottom" fmla="*/ 239760 h 239400"/>
              </a:gdLst>
              <a:ahLst/>
              <a:cxnLst/>
              <a:rect l="textAreaLeft" t="textAreaTop" r="textAreaRight" b="textAreaBottom"/>
              <a:pathLst>
                <a:path w="15300" h="15299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863;p60"/>
            <p:cNvSpPr/>
            <p:nvPr/>
          </p:nvSpPr>
          <p:spPr>
            <a:xfrm>
              <a:off x="1654920" y="2949120"/>
              <a:ext cx="312840" cy="312840"/>
            </a:xfrm>
            <a:custGeom>
              <a:avLst/>
              <a:gdLst>
                <a:gd name="textAreaLeft" fmla="*/ 0 w 312840"/>
                <a:gd name="textAreaRight" fmla="*/ 313200 w 312840"/>
                <a:gd name="textAreaTop" fmla="*/ 0 h 312840"/>
                <a:gd name="textAreaBottom" fmla="*/ 313200 h 312840"/>
              </a:gdLst>
              <a:ahLst/>
              <a:cxnLst/>
              <a:rect l="textAreaLeft" t="textAreaTop" r="textAreaRight" b="textAreaBottom"/>
              <a:pathLst>
                <a:path w="19984" h="19982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864;p60"/>
            <p:cNvSpPr/>
            <p:nvPr/>
          </p:nvSpPr>
          <p:spPr>
            <a:xfrm>
              <a:off x="1857600" y="3022920"/>
              <a:ext cx="36360" cy="36360"/>
            </a:xfrm>
            <a:custGeom>
              <a:avLst/>
              <a:gdLst>
                <a:gd name="textAreaLeft" fmla="*/ 0 w 36360"/>
                <a:gd name="textAreaRight" fmla="*/ 36720 w 3636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2342" h="2343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360" bIns="18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3" name="Google Shape;865;p60"/>
          <p:cNvGrpSpPr/>
          <p:nvPr/>
        </p:nvGrpSpPr>
        <p:grpSpPr>
          <a:xfrm>
            <a:off x="2131560" y="2949120"/>
            <a:ext cx="312840" cy="312840"/>
            <a:chOff x="2131560" y="2949120"/>
            <a:chExt cx="312840" cy="312840"/>
          </a:xfrm>
        </p:grpSpPr>
        <p:sp>
          <p:nvSpPr>
            <p:cNvPr id="74" name="Google Shape;866;p60"/>
            <p:cNvSpPr/>
            <p:nvPr/>
          </p:nvSpPr>
          <p:spPr>
            <a:xfrm>
              <a:off x="2178000" y="3059640"/>
              <a:ext cx="54720" cy="16488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164880"/>
                <a:gd name="textAreaBottom" fmla="*/ 165240 h 164880"/>
              </a:gdLst>
              <a:ahLst/>
              <a:cxnLst/>
              <a:rect l="textAreaLeft" t="textAreaTop" r="textAreaRight" b="textAreaBottom"/>
              <a:pathLst>
                <a:path w="3514" h="10537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440" bIns="82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867;p60"/>
            <p:cNvSpPr/>
            <p:nvPr/>
          </p:nvSpPr>
          <p:spPr>
            <a:xfrm>
              <a:off x="2178000" y="298620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3514" h="3514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868;p60"/>
            <p:cNvSpPr/>
            <p:nvPr/>
          </p:nvSpPr>
          <p:spPr>
            <a:xfrm>
              <a:off x="2251440" y="3059640"/>
              <a:ext cx="146520" cy="165240"/>
            </a:xfrm>
            <a:custGeom>
              <a:avLst/>
              <a:gdLst>
                <a:gd name="textAreaLeft" fmla="*/ 0 w 146520"/>
                <a:gd name="textAreaRight" fmla="*/ 146880 w 14652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9368" h="10556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869;p60"/>
            <p:cNvSpPr/>
            <p:nvPr/>
          </p:nvSpPr>
          <p:spPr>
            <a:xfrm>
              <a:off x="2131560" y="2949120"/>
              <a:ext cx="312840" cy="312840"/>
            </a:xfrm>
            <a:custGeom>
              <a:avLst/>
              <a:gdLst>
                <a:gd name="textAreaLeft" fmla="*/ 0 w 312840"/>
                <a:gd name="textAreaRight" fmla="*/ 313200 w 312840"/>
                <a:gd name="textAreaTop" fmla="*/ 0 h 312840"/>
                <a:gd name="textAreaBottom" fmla="*/ 313200 h 312840"/>
              </a:gdLst>
              <a:ahLst/>
              <a:cxnLst/>
              <a:rect l="textAreaLeft" t="textAreaTop" r="textAreaRight" b="textAreaBottom"/>
              <a:pathLst>
                <a:path w="19982" h="19982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2026-05-19T09:28:40Z</dcterms:created>
  <dc:creator>Unknown Creator</dc:creator>
  <dc:description/>
  <dc:language>en-US</dc:language>
  <cp:lastModifiedBy>Unknown Creator</cp:lastModifiedBy>
  <dcterms:modified xsi:type="dcterms:W3CDTF">2026-05-19T09:28:40Z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11</vt:r8>
  </property>
</Properties>
</file>